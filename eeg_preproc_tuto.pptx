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2" r:id="rId1"/>
  </p:sldMasterIdLst>
  <p:sldIdLst>
    <p:sldId id="258" r:id="rId2"/>
    <p:sldId id="291" r:id="rId3"/>
    <p:sldId id="257" r:id="rId4"/>
    <p:sldId id="293" r:id="rId5"/>
    <p:sldId id="295" r:id="rId6"/>
    <p:sldId id="296" r:id="rId7"/>
    <p:sldId id="297" r:id="rId8"/>
    <p:sldId id="298" r:id="rId9"/>
    <p:sldId id="299" r:id="rId10"/>
    <p:sldId id="301" r:id="rId11"/>
    <p:sldId id="302" r:id="rId12"/>
    <p:sldId id="303" r:id="rId13"/>
    <p:sldId id="30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C8EFD-58E3-0F04-CA4A-47B5ABFF8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27A5F2-E7F1-7547-1407-8ACFAC793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420A4C-DE2C-AEAA-1C17-6DE41C67A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1/7/2026</a:t>
            </a:fld>
            <a:endParaRPr lang="en-US" sz="10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B11892-1E52-5372-656D-D69088583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D9A73D-F928-0288-6C7D-1CBDDC744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8524226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6B9DA4-FC67-7565-6FA3-02D697EF8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7B96F8-B52D-82E2-AF1C-983922CE4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97A286-4863-4C46-2A6E-6468E98BF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1/7/2026</a:t>
            </a:fld>
            <a:endParaRPr lang="en-US" sz="10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657BED-D1DD-1A2C-2C4A-35085AFD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6E1E8B-B2CF-C903-9229-A53EB48D9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3261116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F8B37-CED8-6B60-E4D1-8C6E19964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DEA871-DBAC-3CE5-8FA4-AF53BE2A0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30CCDB-2E9B-1839-76B1-A738E606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1/7/2026</a:t>
            </a:fld>
            <a:endParaRPr lang="en-US" sz="10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AF6B11-510C-E384-5FCE-478749E31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B3A6F3-C2B2-E323-4917-36503680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3604403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9008DB-B1C0-A855-4D59-D719BE6BA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6424FE-264B-4F8D-4BF9-EA8B8F219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134447-C6E1-F726-BA5F-CE153ED68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448D78-4D95-06D9-D767-253A8C23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1/7/2026</a:t>
            </a:fld>
            <a:endParaRPr lang="en-US" sz="100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314A62-784E-2733-D228-52517B31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7878E-CCE6-B749-E58F-B43B9DA1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968936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77D0EC-0A1B-480F-6364-5ED7AE0D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D649AF-45CC-C359-19EB-E795CF183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EAC7F5-4656-69D2-A681-3AFDA2477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59C434-B073-2230-DA33-5091E044D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72C8F4-F01D-393A-59F7-0D7C031FE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17774F-5A31-ADF3-515D-EFAE9A15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1/7/2026</a:t>
            </a:fld>
            <a:endParaRPr lang="en-US" sz="1000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0AA9B2-B47F-7F2E-6676-FB862195B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303A06-20D6-98AA-FDFF-84FF329CA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896357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311EB-7C69-532C-2FA6-825AD6E2E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83C7FA-1705-6920-6450-FBAD0F594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1/7/2026</a:t>
            </a:fld>
            <a:endParaRPr lang="en-US" sz="1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5B75AA-4DDA-EEE2-5727-39BECF0B5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330F1C-54BB-6423-5856-0536B6D2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888953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E9A322-547C-135F-3EB0-C1345B56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1/7/2026</a:t>
            </a:fld>
            <a:endParaRPr lang="en-US" sz="100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975228-1B7D-1324-4256-76D00869E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D0051C-D814-3788-512E-1C297BCB4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74114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C07DED-F5CA-8A51-5E44-BBB24ECAA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EBA79C-DA0A-15C0-1EB7-3EB66F388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2483A0-DE39-0122-0621-A4DBC5C30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9CDA23-9ED2-4169-61DE-85DFE36AB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1/7/2026</a:t>
            </a:fld>
            <a:endParaRPr lang="en-US" sz="100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C2D11C-D7E2-BC53-9534-A6830A6E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369D05-C78D-0054-D748-D06C9DB3C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099711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AFDB1-CC63-F7E9-8A03-5CC2D37C7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2098B9-F0A0-727A-B065-223F9E130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81846B-9EA0-8C0C-37DF-868F34568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5850DE-72A0-AB3E-3EFD-321ABBF6B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1/7/2026</a:t>
            </a:fld>
            <a:endParaRPr lang="en-US" sz="100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F2D9CF-F822-4DB3-DCFF-494D638C5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640945-A6B1-C388-1D6F-11D4D6A5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277867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C05F4-7055-0D66-1135-FCF03554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06BE24-C18E-87BD-8B95-CF4B4B8C8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D5F9A-3958-4ACF-12F9-884CA95D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1/7/2026</a:t>
            </a:fld>
            <a:endParaRPr lang="en-US" sz="10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8C12E4-3CA8-5B28-8142-4B57ED889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D07020-970B-E11A-EB2D-AD0DED81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106041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8D7F17-72FA-09FC-0D4C-9E4DCA0CD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B8E756-A4F7-19F4-0197-1410EFE93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B9AE61-90B5-D9DC-53CE-E2B9142E3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1/7/2026</a:t>
            </a:fld>
            <a:endParaRPr lang="en-US" sz="10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1DD61D-7DBA-F4C8-65EE-21AC29438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7C3C1A-3B5D-708D-9823-89E5E154C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8408379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364381-6665-72C5-B086-1059E630D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6638E7-8A49-89E1-03D9-6558B4111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A1D903-2114-2592-8F1D-466882634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1/7/2026</a:t>
            </a:fld>
            <a:endParaRPr lang="en-US" sz="10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DCCAFF-83BE-4D89-F7E9-ABFE086B9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6CBEF4-BEE3-853A-EA00-E57B3E988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6420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eglab.org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13050C-768C-F7B4-30E1-C445A769D18C}"/>
              </a:ext>
            </a:extLst>
          </p:cNvPr>
          <p:cNvSpPr txBox="1"/>
          <p:nvPr/>
        </p:nvSpPr>
        <p:spPr>
          <a:xfrm>
            <a:off x="3113935" y="2373828"/>
            <a:ext cx="597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EEG </a:t>
            </a:r>
            <a:r>
              <a:rPr lang="en-US" altLang="ko-KR" sz="4800" b="1" dirty="0" err="1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preproc</a:t>
            </a:r>
            <a:r>
              <a:rPr lang="en-US" altLang="ko-KR" sz="48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. </a:t>
            </a:r>
            <a:r>
              <a:rPr lang="en-US" altLang="ko-KR" sz="4800" b="1" dirty="0" err="1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tuto</a:t>
            </a:r>
            <a:r>
              <a:rPr lang="en-US" altLang="ko-KR" sz="48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.</a:t>
            </a:r>
            <a:endParaRPr lang="ko-KR" altLang="en-US" sz="4800" b="1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E52FB-74F1-A9F8-7CB5-4BDAB7C8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" y="6431890"/>
            <a:ext cx="1150720" cy="2895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B7AFD3E-B232-9DE1-ADB1-1B258A47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053" y="6431889"/>
            <a:ext cx="1072536" cy="289585"/>
          </a:xfrm>
          <a:prstGeom prst="rect">
            <a:avLst/>
          </a:prstGeom>
        </p:spPr>
      </p:pic>
      <p:sp>
        <p:nvSpPr>
          <p:cNvPr id="2" name="슬라이드 번호 개체 틀 2">
            <a:extLst>
              <a:ext uri="{FF2B5EF4-FFF2-40B4-BE49-F238E27FC236}">
                <a16:creationId xmlns:a16="http://schemas.microsoft.com/office/drawing/2014/main" id="{B86939D1-DF0C-A7D7-A0E9-2CE77513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389" y="199699"/>
            <a:ext cx="2743200" cy="365125"/>
          </a:xfrm>
        </p:spPr>
        <p:txBody>
          <a:bodyPr/>
          <a:lstStyle/>
          <a:p>
            <a:fld id="{9525FBF5-DC9D-46F5-B1BC-8D1C898DEEB3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461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394" y="1122946"/>
            <a:ext cx="11585195" cy="5598527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EEGLAB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관련 링크</a:t>
            </a: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://eeglab.org</a:t>
            </a: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/</a:t>
            </a:r>
            <a:endParaRPr lang="en-US" altLang="ko-KR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EEGLAB </a:t>
            </a:r>
            <a:r>
              <a:rPr lang="ko-KR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이란</a:t>
            </a: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MATLAB </a:t>
            </a:r>
            <a:r>
              <a:rPr lang="ko-KR" altLang="en-US" sz="1400" dirty="0"/>
              <a:t>기반의 오픈소스 </a:t>
            </a:r>
            <a:r>
              <a:rPr lang="en-US" altLang="ko-KR" sz="1400" dirty="0" smtClean="0"/>
              <a:t>EEG </a:t>
            </a:r>
            <a:r>
              <a:rPr lang="ko-KR" altLang="en-US" sz="1400" dirty="0" smtClean="0"/>
              <a:t>분석 </a:t>
            </a:r>
            <a:r>
              <a:rPr lang="ko-KR" altLang="en-US" sz="1400" dirty="0" err="1" smtClean="0"/>
              <a:t>툴박스</a:t>
            </a:r>
            <a:endParaRPr lang="en-US" altLang="ko-KR" sz="1400" dirty="0" smtClean="0"/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EEG </a:t>
            </a:r>
            <a:r>
              <a:rPr lang="ko-KR" altLang="en-US" sz="1400" dirty="0" smtClean="0"/>
              <a:t>데이터를 전처리</a:t>
            </a:r>
            <a:r>
              <a:rPr lang="en-US" altLang="ko-KR" sz="1400" dirty="0"/>
              <a:t>(preprocessing)·</a:t>
            </a:r>
            <a:r>
              <a:rPr lang="ko-KR" altLang="en-US" sz="1400" dirty="0" smtClean="0"/>
              <a:t>시각화</a:t>
            </a:r>
            <a:r>
              <a:rPr lang="en-US" altLang="ko-KR" sz="1400" dirty="0"/>
              <a:t>·</a:t>
            </a:r>
            <a:r>
              <a:rPr lang="ko-KR" altLang="en-US" sz="1400" dirty="0"/>
              <a:t>통계</a:t>
            </a:r>
            <a:r>
              <a:rPr lang="en-US" altLang="ko-KR" sz="1400" dirty="0"/>
              <a:t>/</a:t>
            </a:r>
            <a:r>
              <a:rPr lang="ko-KR" altLang="en-US" sz="1400" dirty="0"/>
              <a:t>시간</a:t>
            </a:r>
            <a:r>
              <a:rPr lang="en-US" altLang="ko-KR" sz="1400" dirty="0"/>
              <a:t>-</a:t>
            </a:r>
            <a:r>
              <a:rPr lang="ko-KR" altLang="en-US" sz="1400" dirty="0"/>
              <a:t>주파수 분석</a:t>
            </a:r>
            <a:r>
              <a:rPr lang="en-US" altLang="ko-KR" sz="1400" dirty="0"/>
              <a:t>·ICA </a:t>
            </a:r>
            <a:r>
              <a:rPr lang="ko-KR" altLang="en-US" sz="1400" dirty="0"/>
              <a:t>기반 </a:t>
            </a:r>
            <a:r>
              <a:rPr lang="ko-KR" altLang="en-US" sz="1400" dirty="0" err="1"/>
              <a:t>아티팩트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제거를 위해 주로 사용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0E5E9E-6032-DEB7-44BC-CF9EAE6A1600}"/>
              </a:ext>
            </a:extLst>
          </p:cNvPr>
          <p:cNvSpPr/>
          <p:nvPr/>
        </p:nvSpPr>
        <p:spPr>
          <a:xfrm>
            <a:off x="140003" y="272054"/>
            <a:ext cx="170390" cy="3996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3050C-768C-F7B4-30E1-C445A769D18C}"/>
              </a:ext>
            </a:extLst>
          </p:cNvPr>
          <p:cNvSpPr txBox="1"/>
          <p:nvPr/>
        </p:nvSpPr>
        <p:spPr>
          <a:xfrm>
            <a:off x="310393" y="176059"/>
            <a:ext cx="11585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EEGLAB</a:t>
            </a:r>
            <a:endParaRPr lang="ko-KR" altLang="en-US" sz="3200" b="1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E52FB-74F1-A9F8-7CB5-4BDAB7C83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6" y="6431890"/>
            <a:ext cx="1150720" cy="2895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B7AFD3E-B232-9DE1-ADB1-1B258A474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3053" y="6431889"/>
            <a:ext cx="1072536" cy="289585"/>
          </a:xfrm>
          <a:prstGeom prst="rect">
            <a:avLst/>
          </a:prstGeom>
        </p:spPr>
      </p:pic>
      <p:sp>
        <p:nvSpPr>
          <p:cNvPr id="2" name="슬라이드 번호 개체 틀 2">
            <a:extLst>
              <a:ext uri="{FF2B5EF4-FFF2-40B4-BE49-F238E27FC236}">
                <a16:creationId xmlns:a16="http://schemas.microsoft.com/office/drawing/2014/main" id="{47721E67-5704-3EAF-DA72-23ACEFCB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389" y="199699"/>
            <a:ext cx="2743200" cy="365125"/>
          </a:xfrm>
        </p:spPr>
        <p:txBody>
          <a:bodyPr/>
          <a:lstStyle/>
          <a:p>
            <a:fld id="{9525FBF5-DC9D-46F5-B1BC-8D1C898DEEB3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114" y="3165181"/>
            <a:ext cx="6384175" cy="32667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21716" y="3361919"/>
            <a:ext cx="3403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왼쪽 과정은 </a:t>
            </a:r>
            <a:r>
              <a:rPr lang="ko-KR" altLang="en-US" sz="1200" b="1" dirty="0"/>
              <a:t>일반적인 </a:t>
            </a:r>
            <a:r>
              <a:rPr lang="en-US" altLang="ko-KR" sz="1200" b="1" dirty="0"/>
              <a:t>EEG </a:t>
            </a:r>
            <a:r>
              <a:rPr lang="en-US" altLang="ko-KR" sz="1200" b="1" dirty="0" err="1"/>
              <a:t>preproc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과정 </a:t>
            </a:r>
            <a:r>
              <a:rPr lang="ko-KR" altLang="en-US" sz="1200" b="1" dirty="0" smtClean="0"/>
              <a:t>예시</a:t>
            </a:r>
            <a:endParaRPr lang="en-US" altLang="ko-KR" sz="1200" b="1" dirty="0" smtClean="0"/>
          </a:p>
          <a:p>
            <a:r>
              <a:rPr lang="ko-KR" altLang="en-US" sz="1200" b="1" dirty="0" smtClean="0"/>
              <a:t>가이드 및 추천되는 과정 중 하나</a:t>
            </a:r>
            <a:endParaRPr lang="en-US" altLang="ko-KR" sz="1200" b="1" dirty="0" smtClean="0"/>
          </a:p>
          <a:p>
            <a:r>
              <a:rPr lang="ko-KR" altLang="en-US" sz="1200" b="1" dirty="0" smtClean="0"/>
              <a:t>제시되는 과정을 맹신 하지 </a:t>
            </a:r>
            <a:r>
              <a:rPr lang="ko-KR" altLang="en-US" sz="1200" b="1" dirty="0" err="1" smtClean="0"/>
              <a:t>말것</a:t>
            </a:r>
            <a:r>
              <a:rPr lang="en-US" altLang="ko-KR" sz="1200" b="1" dirty="0" smtClean="0"/>
              <a:t>!</a:t>
            </a:r>
            <a:endParaRPr lang="ko-KR" altLang="en-US" sz="1200" b="1" dirty="0"/>
          </a:p>
          <a:p>
            <a:r>
              <a:rPr lang="ko-KR" altLang="en-US" sz="1200" b="1" dirty="0" smtClean="0"/>
              <a:t> 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24771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0E5E9E-6032-DEB7-44BC-CF9EAE6A1600}"/>
              </a:ext>
            </a:extLst>
          </p:cNvPr>
          <p:cNvSpPr/>
          <p:nvPr/>
        </p:nvSpPr>
        <p:spPr>
          <a:xfrm>
            <a:off x="140003" y="272054"/>
            <a:ext cx="170390" cy="3996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3050C-768C-F7B4-30E1-C445A769D18C}"/>
              </a:ext>
            </a:extLst>
          </p:cNvPr>
          <p:cNvSpPr txBox="1"/>
          <p:nvPr/>
        </p:nvSpPr>
        <p:spPr>
          <a:xfrm>
            <a:off x="310393" y="176059"/>
            <a:ext cx="11585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EEG </a:t>
            </a:r>
            <a:r>
              <a:rPr lang="en-US" altLang="ko-KR" sz="3200" b="1" dirty="0" err="1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Preproc</a:t>
            </a:r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. </a:t>
            </a:r>
            <a:endParaRPr lang="ko-KR" altLang="en-US" sz="3200" b="1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E52FB-74F1-A9F8-7CB5-4BDAB7C8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" y="6431890"/>
            <a:ext cx="1150720" cy="2895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B7AFD3E-B232-9DE1-ADB1-1B258A47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053" y="6431889"/>
            <a:ext cx="1072536" cy="289585"/>
          </a:xfrm>
          <a:prstGeom prst="rect">
            <a:avLst/>
          </a:prstGeom>
        </p:spPr>
      </p:pic>
      <p:sp>
        <p:nvSpPr>
          <p:cNvPr id="2" name="슬라이드 번호 개체 틀 2">
            <a:extLst>
              <a:ext uri="{FF2B5EF4-FFF2-40B4-BE49-F238E27FC236}">
                <a16:creationId xmlns:a16="http://schemas.microsoft.com/office/drawing/2014/main" id="{47721E67-5704-3EAF-DA72-23ACEFCB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389" y="199699"/>
            <a:ext cx="2743200" cy="365125"/>
          </a:xfrm>
        </p:spPr>
        <p:txBody>
          <a:bodyPr/>
          <a:lstStyle/>
          <a:p>
            <a:fld id="{9525FBF5-DC9D-46F5-B1BC-8D1C898DEEB3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49" b="-575"/>
          <a:stretch/>
        </p:blipFill>
        <p:spPr>
          <a:xfrm>
            <a:off x="140003" y="856829"/>
            <a:ext cx="5282403" cy="5377716"/>
          </a:xfrm>
          <a:prstGeom prst="rect">
            <a:avLst/>
          </a:prstGeom>
        </p:spPr>
      </p:pic>
      <p:sp>
        <p:nvSpPr>
          <p:cNvPr id="11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9439" y="1057310"/>
            <a:ext cx="6543514" cy="5664164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Preproc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Import data: </a:t>
            </a:r>
            <a:r>
              <a:rPr lang="en-US" altLang="ko-KR" sz="1600" dirty="0"/>
              <a:t>EDF, BDF(</a:t>
            </a:r>
            <a:r>
              <a:rPr lang="en-US" altLang="ko-KR" sz="1600" dirty="0" err="1"/>
              <a:t>BioSemi</a:t>
            </a:r>
            <a:r>
              <a:rPr lang="en-US" altLang="ko-KR" sz="1600" dirty="0"/>
              <a:t>), </a:t>
            </a:r>
            <a:r>
              <a:rPr lang="en-US" altLang="ko-KR" sz="1600" dirty="0" err="1"/>
              <a:t>BrainVision</a:t>
            </a:r>
            <a:r>
              <a:rPr lang="en-US" altLang="ko-KR" sz="1600" dirty="0"/>
              <a:t> </a:t>
            </a:r>
            <a:r>
              <a:rPr lang="ko-KR" altLang="en-US" sz="1600" dirty="0"/>
              <a:t>등 다양한 포맷 지원</a:t>
            </a:r>
            <a:r>
              <a:rPr lang="en-US" altLang="ko-KR" sz="1600" dirty="0"/>
              <a:t>(</a:t>
            </a:r>
            <a:r>
              <a:rPr lang="ko-KR" altLang="en-US" sz="1600" dirty="0"/>
              <a:t>플러그인 포함</a:t>
            </a:r>
            <a:r>
              <a:rPr lang="en-US" altLang="ko-KR" sz="1600" dirty="0"/>
              <a:t>).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endParaRPr lang="en-US" altLang="ko-KR" sz="2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8796094" y="3031434"/>
            <a:ext cx="2873076" cy="212698"/>
            <a:chOff x="9002489" y="3044107"/>
            <a:chExt cx="2873076" cy="212698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70540" y="3044107"/>
              <a:ext cx="2105025" cy="200025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02489" y="3060312"/>
              <a:ext cx="807806" cy="196493"/>
            </a:xfrm>
            <a:prstGeom prst="rect">
              <a:avLst/>
            </a:prstGeom>
          </p:spPr>
        </p:pic>
      </p:grpSp>
      <p:pic>
        <p:nvPicPr>
          <p:cNvPr id="16" name="그림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2735" y="3397347"/>
            <a:ext cx="1956435" cy="934741"/>
          </a:xfrm>
          <a:prstGeom prst="rect">
            <a:avLst/>
          </a:prstGeom>
        </p:spPr>
      </p:pic>
      <p:sp>
        <p:nvSpPr>
          <p:cNvPr id="17" name="오른쪽으로 구부러진 화살표 16"/>
          <p:cNvSpPr/>
          <p:nvPr/>
        </p:nvSpPr>
        <p:spPr>
          <a:xfrm>
            <a:off x="9177000" y="3260337"/>
            <a:ext cx="422695" cy="793587"/>
          </a:xfrm>
          <a:prstGeom prst="curved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7458" y="3194395"/>
            <a:ext cx="1781642" cy="3311710"/>
          </a:xfrm>
          <a:prstGeom prst="rect">
            <a:avLst/>
          </a:prstGeom>
        </p:spPr>
      </p:pic>
      <p:sp>
        <p:nvSpPr>
          <p:cNvPr id="19" name="오른쪽으로 구부러진 화살표 18"/>
          <p:cNvSpPr/>
          <p:nvPr/>
        </p:nvSpPr>
        <p:spPr>
          <a:xfrm>
            <a:off x="5602323" y="3194395"/>
            <a:ext cx="422695" cy="793587"/>
          </a:xfrm>
          <a:prstGeom prst="curved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38014" y="4018803"/>
            <a:ext cx="1306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EEG structure</a:t>
            </a:r>
            <a:r>
              <a:rPr lang="ko-KR" altLang="en-US" sz="1200" dirty="0" smtClean="0"/>
              <a:t>로 </a:t>
            </a:r>
            <a:r>
              <a:rPr lang="en-US" altLang="ko-KR" sz="1200" dirty="0" smtClean="0"/>
              <a:t>import</a:t>
            </a:r>
            <a:endParaRPr lang="ko-KR" altLang="en-US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8358130" y="4093448"/>
            <a:ext cx="1509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해당 경로의 파일</a:t>
            </a:r>
            <a:endParaRPr lang="ko-KR" altLang="en-US" sz="1200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2581275" y="1447800"/>
            <a:ext cx="2756739" cy="8382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190" y="2003414"/>
            <a:ext cx="381952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2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0E5E9E-6032-DEB7-44BC-CF9EAE6A1600}"/>
              </a:ext>
            </a:extLst>
          </p:cNvPr>
          <p:cNvSpPr/>
          <p:nvPr/>
        </p:nvSpPr>
        <p:spPr>
          <a:xfrm>
            <a:off x="140003" y="272054"/>
            <a:ext cx="170390" cy="3996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3050C-768C-F7B4-30E1-C445A769D18C}"/>
              </a:ext>
            </a:extLst>
          </p:cNvPr>
          <p:cNvSpPr txBox="1"/>
          <p:nvPr/>
        </p:nvSpPr>
        <p:spPr>
          <a:xfrm>
            <a:off x="310393" y="176059"/>
            <a:ext cx="11585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EEG </a:t>
            </a:r>
            <a:r>
              <a:rPr lang="en-US" altLang="ko-KR" sz="3200" b="1" dirty="0" err="1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Preproc</a:t>
            </a:r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. </a:t>
            </a:r>
            <a:endParaRPr lang="ko-KR" altLang="en-US" sz="3200" b="1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E52FB-74F1-A9F8-7CB5-4BDAB7C8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" y="6431890"/>
            <a:ext cx="1150720" cy="2895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B7AFD3E-B232-9DE1-ADB1-1B258A47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053" y="6431889"/>
            <a:ext cx="1072536" cy="289585"/>
          </a:xfrm>
          <a:prstGeom prst="rect">
            <a:avLst/>
          </a:prstGeom>
        </p:spPr>
      </p:pic>
      <p:sp>
        <p:nvSpPr>
          <p:cNvPr id="2" name="슬라이드 번호 개체 틀 2">
            <a:extLst>
              <a:ext uri="{FF2B5EF4-FFF2-40B4-BE49-F238E27FC236}">
                <a16:creationId xmlns:a16="http://schemas.microsoft.com/office/drawing/2014/main" id="{47721E67-5704-3EAF-DA72-23ACEFCB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389" y="199699"/>
            <a:ext cx="2743200" cy="365125"/>
          </a:xfrm>
        </p:spPr>
        <p:txBody>
          <a:bodyPr/>
          <a:lstStyle/>
          <a:p>
            <a:fld id="{9525FBF5-DC9D-46F5-B1BC-8D1C898DEEB3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49" b="-575"/>
          <a:stretch/>
        </p:blipFill>
        <p:spPr>
          <a:xfrm>
            <a:off x="140003" y="856829"/>
            <a:ext cx="5282403" cy="5377716"/>
          </a:xfrm>
          <a:prstGeom prst="rect">
            <a:avLst/>
          </a:prstGeom>
        </p:spPr>
      </p:pic>
      <p:sp>
        <p:nvSpPr>
          <p:cNvPr id="11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9528" y="1057310"/>
            <a:ext cx="7015347" cy="5664164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Preproc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Import data </a:t>
            </a: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EEG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데이터는 다양한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format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을 가짐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EEGLAB</a:t>
            </a:r>
            <a:r>
              <a:rPr lang="ko-KR" altLang="en-US" sz="1400" dirty="0" smtClean="0"/>
              <a:t>은 </a:t>
            </a:r>
            <a:r>
              <a:rPr lang="en-US" altLang="ko-KR" sz="1400" dirty="0" smtClean="0"/>
              <a:t>EDF, BDF(</a:t>
            </a:r>
            <a:r>
              <a:rPr lang="en-US" altLang="ko-KR" sz="1400" dirty="0" err="1" smtClean="0"/>
              <a:t>BioSemi</a:t>
            </a:r>
            <a:r>
              <a:rPr lang="en-US" altLang="ko-KR" sz="1400" dirty="0" smtClean="0"/>
              <a:t>), </a:t>
            </a:r>
            <a:r>
              <a:rPr lang="en-US" altLang="ko-KR" sz="1400" dirty="0" err="1" smtClean="0"/>
              <a:t>BrainVision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등 다양한 </a:t>
            </a:r>
            <a:r>
              <a:rPr lang="en-US" altLang="ko-KR" sz="1400" dirty="0" smtClean="0"/>
              <a:t>format</a:t>
            </a:r>
            <a:r>
              <a:rPr lang="ko-KR" altLang="en-US" sz="1400" dirty="0" smtClean="0"/>
              <a:t> 지원</a:t>
            </a:r>
            <a:endParaRPr lang="en-US" altLang="ko-KR" sz="1400" dirty="0" smtClean="0"/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Raw data </a:t>
            </a:r>
            <a:r>
              <a:rPr lang="ko-KR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확인</a:t>
            </a:r>
            <a:endParaRPr lang="en-US" altLang="ko-KR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Srate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, channel montage, reference, event(trigger)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정보 확인</a:t>
            </a:r>
            <a:endParaRPr lang="en-US" altLang="ko-K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Bad channel (</a:t>
            </a:r>
            <a:r>
              <a:rPr lang="en-US" altLang="ko-KR" sz="1400" dirty="0" err="1" smtClean="0"/>
              <a:t>flatline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반복적인 노이즈 패턴</a:t>
            </a:r>
            <a:r>
              <a:rPr lang="en-US" altLang="ko-KR" sz="1400" dirty="0"/>
              <a:t>, </a:t>
            </a:r>
            <a:r>
              <a:rPr lang="en-US" altLang="ko-KR" sz="1400" dirty="0" smtClean="0"/>
              <a:t>pop </a:t>
            </a:r>
            <a:r>
              <a:rPr lang="ko-KR" altLang="en-US" sz="1400" dirty="0" smtClean="0"/>
              <a:t>등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Time domain: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pop_eegplot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amplitude scale, artifact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정도 확인</a:t>
            </a:r>
            <a:endParaRPr lang="en-US" altLang="ko-K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Frequency domain: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spectopo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1/f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의 감소폭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, power noise(50/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60Hz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확인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endParaRPr lang="en-US" altLang="ko-KR" sz="2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2581275" y="1447800"/>
            <a:ext cx="2756739" cy="8382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932" y="4938758"/>
            <a:ext cx="2940544" cy="191679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22406" y="4630981"/>
            <a:ext cx="2547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op_eegplot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156" y="4937537"/>
            <a:ext cx="2494792" cy="191801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67694" y="4629760"/>
            <a:ext cx="2547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spectopo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0315" y="4066631"/>
            <a:ext cx="279082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8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0E5E9E-6032-DEB7-44BC-CF9EAE6A1600}"/>
              </a:ext>
            </a:extLst>
          </p:cNvPr>
          <p:cNvSpPr/>
          <p:nvPr/>
        </p:nvSpPr>
        <p:spPr>
          <a:xfrm>
            <a:off x="140003" y="272054"/>
            <a:ext cx="170390" cy="3996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3050C-768C-F7B4-30E1-C445A769D18C}"/>
              </a:ext>
            </a:extLst>
          </p:cNvPr>
          <p:cNvSpPr txBox="1"/>
          <p:nvPr/>
        </p:nvSpPr>
        <p:spPr>
          <a:xfrm>
            <a:off x="310393" y="176059"/>
            <a:ext cx="11585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EEG </a:t>
            </a:r>
            <a:r>
              <a:rPr lang="en-US" altLang="ko-KR" sz="3200" b="1" dirty="0" err="1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Preproc</a:t>
            </a:r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. </a:t>
            </a:r>
            <a:endParaRPr lang="ko-KR" altLang="en-US" sz="3200" b="1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E52FB-74F1-A9F8-7CB5-4BDAB7C8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" y="6431890"/>
            <a:ext cx="1150720" cy="2895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B7AFD3E-B232-9DE1-ADB1-1B258A47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053" y="6431889"/>
            <a:ext cx="1072536" cy="289585"/>
          </a:xfrm>
          <a:prstGeom prst="rect">
            <a:avLst/>
          </a:prstGeom>
        </p:spPr>
      </p:pic>
      <p:sp>
        <p:nvSpPr>
          <p:cNvPr id="2" name="슬라이드 번호 개체 틀 2">
            <a:extLst>
              <a:ext uri="{FF2B5EF4-FFF2-40B4-BE49-F238E27FC236}">
                <a16:creationId xmlns:a16="http://schemas.microsoft.com/office/drawing/2014/main" id="{47721E67-5704-3EAF-DA72-23ACEFCB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389" y="199699"/>
            <a:ext cx="2743200" cy="365125"/>
          </a:xfrm>
        </p:spPr>
        <p:txBody>
          <a:bodyPr/>
          <a:lstStyle/>
          <a:p>
            <a:fld id="{9525FBF5-DC9D-46F5-B1BC-8D1C898DEEB3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49" b="-575"/>
          <a:stretch/>
        </p:blipFill>
        <p:spPr>
          <a:xfrm>
            <a:off x="140003" y="856829"/>
            <a:ext cx="5282403" cy="5377716"/>
          </a:xfrm>
          <a:prstGeom prst="rect">
            <a:avLst/>
          </a:prstGeom>
        </p:spPr>
      </p:pic>
      <p:sp>
        <p:nvSpPr>
          <p:cNvPr id="11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9528" y="1057310"/>
            <a:ext cx="6576061" cy="5664164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Preproc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Resampling (</a:t>
            </a:r>
            <a:r>
              <a:rPr lang="en-US" altLang="ko-KR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downsample</a:t>
            </a: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) – option</a:t>
            </a: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필요시에만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적용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분석 목표 주파수 대역이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낮은 경우</a:t>
            </a:r>
            <a:endParaRPr lang="en-US" altLang="ko-KR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데이터 크기가 커서 </a:t>
            </a:r>
            <a:r>
              <a:rPr lang="ko-KR" altLang="en-US" sz="1200" dirty="0"/>
              <a:t>메모리</a:t>
            </a:r>
            <a:r>
              <a:rPr lang="en-US" altLang="ko-KR" sz="1200" dirty="0"/>
              <a:t>·</a:t>
            </a:r>
            <a:r>
              <a:rPr lang="ko-KR" altLang="en-US" sz="1200" dirty="0"/>
              <a:t>속도 </a:t>
            </a:r>
            <a:r>
              <a:rPr lang="ko-KR" altLang="en-US" sz="1200" dirty="0" smtClean="0"/>
              <a:t>병목 문제가 있는 경우</a:t>
            </a:r>
            <a:endParaRPr lang="en-US" altLang="ko-KR" sz="1200" dirty="0" smtClean="0"/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실시간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준실시간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처리에 문제가 있는 경우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Nyquist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Fs_new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/2</a:t>
            </a:r>
            <a:r>
              <a:rPr lang="ko-KR" altLang="en-US" sz="1400" dirty="0" smtClean="0"/>
              <a:t>으로 인한 최대 표기 범위 변화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주의 필요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 </a:t>
            </a:r>
            <a:endParaRPr lang="en-US" altLang="ko-KR" sz="1400" dirty="0" smtClean="0"/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103066" y="1790700"/>
            <a:ext cx="2459159" cy="8382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0133" y="4513875"/>
            <a:ext cx="2494792" cy="191801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40671" y="4206098"/>
            <a:ext cx="2547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spectopo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0231" y="3611969"/>
            <a:ext cx="2257425" cy="3524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375" y="4513875"/>
            <a:ext cx="2552700" cy="19488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07558" y="4206098"/>
            <a:ext cx="2547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Spectopo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- resample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7705725" y="5488292"/>
            <a:ext cx="391931" cy="9744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10810058" y="5389229"/>
            <a:ext cx="391931" cy="9744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887981" y="3979328"/>
            <a:ext cx="2419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Resampling to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150Hz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895883" y="5045164"/>
            <a:ext cx="3317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Srate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300Hz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-&gt;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Nyquist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150Hz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64182" y="5044253"/>
            <a:ext cx="3317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Srate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150Hz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-&gt;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Nyquist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75Hz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74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0E5E9E-6032-DEB7-44BC-CF9EAE6A1600}"/>
              </a:ext>
            </a:extLst>
          </p:cNvPr>
          <p:cNvSpPr/>
          <p:nvPr/>
        </p:nvSpPr>
        <p:spPr>
          <a:xfrm>
            <a:off x="140003" y="272054"/>
            <a:ext cx="170390" cy="3996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3050C-768C-F7B4-30E1-C445A769D18C}"/>
              </a:ext>
            </a:extLst>
          </p:cNvPr>
          <p:cNvSpPr txBox="1"/>
          <p:nvPr/>
        </p:nvSpPr>
        <p:spPr>
          <a:xfrm>
            <a:off x="310393" y="176059"/>
            <a:ext cx="11585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EEG </a:t>
            </a:r>
            <a:r>
              <a:rPr lang="en-US" altLang="ko-KR" sz="3200" b="1" dirty="0" err="1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Preproc</a:t>
            </a:r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. </a:t>
            </a:r>
            <a:endParaRPr lang="ko-KR" altLang="en-US" sz="3200" b="1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E52FB-74F1-A9F8-7CB5-4BDAB7C8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" y="6431890"/>
            <a:ext cx="1150720" cy="289585"/>
          </a:xfrm>
          <a:prstGeom prst="rect">
            <a:avLst/>
          </a:prstGeom>
        </p:spPr>
      </p:pic>
      <p:sp>
        <p:nvSpPr>
          <p:cNvPr id="2" name="슬라이드 번호 개체 틀 2">
            <a:extLst>
              <a:ext uri="{FF2B5EF4-FFF2-40B4-BE49-F238E27FC236}">
                <a16:creationId xmlns:a16="http://schemas.microsoft.com/office/drawing/2014/main" id="{47721E67-5704-3EAF-DA72-23ACEFCB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389" y="199699"/>
            <a:ext cx="2743200" cy="365125"/>
          </a:xfrm>
        </p:spPr>
        <p:txBody>
          <a:bodyPr/>
          <a:lstStyle/>
          <a:p>
            <a:fld id="{9525FBF5-DC9D-46F5-B1BC-8D1C898DEEB3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49" b="-575"/>
          <a:stretch/>
        </p:blipFill>
        <p:spPr>
          <a:xfrm>
            <a:off x="140003" y="856829"/>
            <a:ext cx="5282403" cy="5377716"/>
          </a:xfrm>
          <a:prstGeom prst="rect">
            <a:avLst/>
          </a:prstGeom>
        </p:spPr>
      </p:pic>
      <p:sp>
        <p:nvSpPr>
          <p:cNvPr id="11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9528" y="73043"/>
            <a:ext cx="6576061" cy="5664164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Preproc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Temporal filter (high pass filter, band pass filter, notch filter)</a:t>
            </a: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igh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pass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저주파 </a:t>
            </a:r>
            <a:r>
              <a:rPr lang="ko-KR" alt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드리프트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제거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(EEG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는 일반적으로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oscillation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rhythmic activity)</a:t>
            </a: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특정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artifact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영향 제거 목적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(sweat, cable sway, device noise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등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0.05~0.5Hz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를 일반적으로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cutoff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설정</a:t>
            </a:r>
            <a:endParaRPr lang="en-US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Band pass filter </a:t>
            </a: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원하는 구간 분석을 목적으로 진행 </a:t>
            </a:r>
            <a:endParaRPr lang="en-US" altLang="ko-KR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Ex) EEG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는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alpha(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8~12Hz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), beta(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12~30Hz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등의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wave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특성을 가짐</a:t>
            </a:r>
            <a:endParaRPr lang="en-US" altLang="ko-KR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Ex) SSVEP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는 특정 구간에서만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activation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을 보임</a:t>
            </a:r>
            <a:endParaRPr lang="en-US" altLang="ko-KR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Notch filter (band stop filter)</a:t>
            </a: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특정 구간의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artifact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제거</a:t>
            </a:r>
            <a:endParaRPr lang="en-US" altLang="ko-KR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일반적으로 전원에 의한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power noise(line noise; 50 or 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60Hz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제거</a:t>
            </a:r>
            <a:endParaRPr lang="en-US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2860369" y="2152650"/>
            <a:ext cx="2459159" cy="8382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103066" y="2486025"/>
            <a:ext cx="2459159" cy="8382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045" y="4562530"/>
            <a:ext cx="1873031" cy="144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35431" y="6033903"/>
            <a:ext cx="1549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spectopo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raw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534" y="4562530"/>
            <a:ext cx="1789716" cy="144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822867" y="6039576"/>
            <a:ext cx="32197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spectopo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algn="ctr"/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band pass filter</a:t>
            </a:r>
          </a:p>
          <a:p>
            <a:pPr algn="ctr"/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(10 -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45Hz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2708" y="4562530"/>
            <a:ext cx="1800860" cy="144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828029" y="5997748"/>
            <a:ext cx="32197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spectopo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notch filter</a:t>
            </a:r>
          </a:p>
          <a:p>
            <a:pPr algn="ctr"/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(59 -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61Hz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9148207" y="5395921"/>
            <a:ext cx="391931" cy="44889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412" y="4562530"/>
            <a:ext cx="1809588" cy="1440000"/>
          </a:xfrm>
          <a:prstGeom prst="rect">
            <a:avLst/>
          </a:prstGeom>
        </p:spPr>
      </p:pic>
      <p:sp>
        <p:nvSpPr>
          <p:cNvPr id="35" name="타원 34"/>
          <p:cNvSpPr/>
          <p:nvPr/>
        </p:nvSpPr>
        <p:spPr>
          <a:xfrm>
            <a:off x="10486186" y="4680285"/>
            <a:ext cx="391931" cy="13536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10468503" y="6035840"/>
            <a:ext cx="16374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spectopo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igh pass filter</a:t>
            </a:r>
          </a:p>
          <a:p>
            <a:pPr algn="ctr"/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(5 Hz)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0371" y="3529336"/>
            <a:ext cx="4064041" cy="1135129"/>
          </a:xfrm>
          <a:prstGeom prst="rect">
            <a:avLst/>
          </a:prstGeom>
        </p:spPr>
      </p:pic>
      <p:sp>
        <p:nvSpPr>
          <p:cNvPr id="37" name="타원 36"/>
          <p:cNvSpPr/>
          <p:nvPr/>
        </p:nvSpPr>
        <p:spPr>
          <a:xfrm>
            <a:off x="9300607" y="5548321"/>
            <a:ext cx="391931" cy="44889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05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0E5E9E-6032-DEB7-44BC-CF9EAE6A1600}"/>
              </a:ext>
            </a:extLst>
          </p:cNvPr>
          <p:cNvSpPr/>
          <p:nvPr/>
        </p:nvSpPr>
        <p:spPr>
          <a:xfrm>
            <a:off x="140003" y="272054"/>
            <a:ext cx="170390" cy="3996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3050C-768C-F7B4-30E1-C445A769D18C}"/>
              </a:ext>
            </a:extLst>
          </p:cNvPr>
          <p:cNvSpPr txBox="1"/>
          <p:nvPr/>
        </p:nvSpPr>
        <p:spPr>
          <a:xfrm>
            <a:off x="310393" y="176059"/>
            <a:ext cx="11585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EEG </a:t>
            </a:r>
            <a:r>
              <a:rPr lang="en-US" altLang="ko-KR" sz="3200" b="1" dirty="0" err="1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Preproc</a:t>
            </a:r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. </a:t>
            </a:r>
            <a:endParaRPr lang="ko-KR" altLang="en-US" sz="3200" b="1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E52FB-74F1-A9F8-7CB5-4BDAB7C8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" y="6431890"/>
            <a:ext cx="1150720" cy="2895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B7AFD3E-B232-9DE1-ADB1-1B258A47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053" y="6431889"/>
            <a:ext cx="1072536" cy="289585"/>
          </a:xfrm>
          <a:prstGeom prst="rect">
            <a:avLst/>
          </a:prstGeom>
        </p:spPr>
      </p:pic>
      <p:sp>
        <p:nvSpPr>
          <p:cNvPr id="2" name="슬라이드 번호 개체 틀 2">
            <a:extLst>
              <a:ext uri="{FF2B5EF4-FFF2-40B4-BE49-F238E27FC236}">
                <a16:creationId xmlns:a16="http://schemas.microsoft.com/office/drawing/2014/main" id="{47721E67-5704-3EAF-DA72-23ACEFCB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389" y="199699"/>
            <a:ext cx="2743200" cy="365125"/>
          </a:xfrm>
        </p:spPr>
        <p:txBody>
          <a:bodyPr/>
          <a:lstStyle/>
          <a:p>
            <a:fld id="{9525FBF5-DC9D-46F5-B1BC-8D1C898DEEB3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49" b="-575"/>
          <a:stretch/>
        </p:blipFill>
        <p:spPr>
          <a:xfrm>
            <a:off x="140003" y="856829"/>
            <a:ext cx="5282403" cy="5377716"/>
          </a:xfrm>
          <a:prstGeom prst="rect">
            <a:avLst/>
          </a:prstGeom>
        </p:spPr>
      </p:pic>
      <p:sp>
        <p:nvSpPr>
          <p:cNvPr id="11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9528" y="1057310"/>
            <a:ext cx="6576061" cy="5664164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Preproc</a:t>
            </a: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Bad channel rejection – option</a:t>
            </a: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필요시에만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적용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특정 전극이 측정 전반적인 문제가 있을 경우</a:t>
            </a:r>
            <a:endParaRPr lang="en-US" altLang="ko-KR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일부 전극을 사용하지는 않았으나 측정된 경우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일반적으로는 </a:t>
            </a:r>
            <a:r>
              <a:rPr lang="en-US" altLang="ko-KR" sz="1200" dirty="0" err="1" smtClean="0"/>
              <a:t>flatline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Average referencing, 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ica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등에 영향을 줄 수 있음</a:t>
            </a:r>
            <a:endParaRPr lang="en-US" altLang="ko-KR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Bad channel interpolation</a:t>
            </a: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주변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EEG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신호 기반 보간</a:t>
            </a: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원 신호로 복구가 아닌 주변 신호 기반의 추정 방법임을 유의</a:t>
            </a:r>
            <a:endParaRPr lang="en-US" altLang="ko-KR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2781204" y="2857500"/>
            <a:ext cx="2459159" cy="8382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4854" y="4275019"/>
            <a:ext cx="2940544" cy="191679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0109" y="4254890"/>
            <a:ext cx="2940545" cy="1915191"/>
          </a:xfrm>
          <a:prstGeom prst="rect">
            <a:avLst/>
          </a:prstGeom>
        </p:spPr>
      </p:pic>
      <p:sp>
        <p:nvSpPr>
          <p:cNvPr id="23" name="타원 22"/>
          <p:cNvSpPr/>
          <p:nvPr/>
        </p:nvSpPr>
        <p:spPr>
          <a:xfrm>
            <a:off x="5386162" y="5353015"/>
            <a:ext cx="391931" cy="44889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6066748" y="6191812"/>
            <a:ext cx="1549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pop_eegplot</a:t>
            </a:r>
            <a:endParaRPr lang="en-US" altLang="ko-K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raw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028262" y="6220858"/>
            <a:ext cx="2324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pop_eegplot</a:t>
            </a:r>
            <a:endParaRPr lang="en-US" altLang="ko-K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Bad channel rejection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05927" y="5822281"/>
            <a:ext cx="1549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flatline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8093" y="3703497"/>
            <a:ext cx="3144116" cy="50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7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0E5E9E-6032-DEB7-44BC-CF9EAE6A1600}"/>
              </a:ext>
            </a:extLst>
          </p:cNvPr>
          <p:cNvSpPr/>
          <p:nvPr/>
        </p:nvSpPr>
        <p:spPr>
          <a:xfrm>
            <a:off x="140003" y="272054"/>
            <a:ext cx="170390" cy="3996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3050C-768C-F7B4-30E1-C445A769D18C}"/>
              </a:ext>
            </a:extLst>
          </p:cNvPr>
          <p:cNvSpPr txBox="1"/>
          <p:nvPr/>
        </p:nvSpPr>
        <p:spPr>
          <a:xfrm>
            <a:off x="310393" y="176059"/>
            <a:ext cx="11585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EEG </a:t>
            </a:r>
            <a:r>
              <a:rPr lang="en-US" altLang="ko-KR" sz="3200" b="1" dirty="0" err="1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Preproc</a:t>
            </a:r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. </a:t>
            </a:r>
            <a:endParaRPr lang="ko-KR" altLang="en-US" sz="3200" b="1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E52FB-74F1-A9F8-7CB5-4BDAB7C8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" y="6431890"/>
            <a:ext cx="1150720" cy="2895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B7AFD3E-B232-9DE1-ADB1-1B258A47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053" y="6431889"/>
            <a:ext cx="1072536" cy="289585"/>
          </a:xfrm>
          <a:prstGeom prst="rect">
            <a:avLst/>
          </a:prstGeom>
        </p:spPr>
      </p:pic>
      <p:sp>
        <p:nvSpPr>
          <p:cNvPr id="2" name="슬라이드 번호 개체 틀 2">
            <a:extLst>
              <a:ext uri="{FF2B5EF4-FFF2-40B4-BE49-F238E27FC236}">
                <a16:creationId xmlns:a16="http://schemas.microsoft.com/office/drawing/2014/main" id="{47721E67-5704-3EAF-DA72-23ACEFCB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389" y="199699"/>
            <a:ext cx="2743200" cy="365125"/>
          </a:xfrm>
        </p:spPr>
        <p:txBody>
          <a:bodyPr/>
          <a:lstStyle/>
          <a:p>
            <a:fld id="{9525FBF5-DC9D-46F5-B1BC-8D1C898DEEB3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49" b="-575"/>
          <a:stretch/>
        </p:blipFill>
        <p:spPr>
          <a:xfrm>
            <a:off x="140003" y="856829"/>
            <a:ext cx="5282403" cy="53777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부제목 2">
                <a:extLst>
                  <a:ext uri="{FF2B5EF4-FFF2-40B4-BE49-F238E27FC236}">
                    <a16:creationId xmlns:a16="http://schemas.microsoft.com/office/drawing/2014/main" id="{E62BBE02-99FF-4492-023C-DF90A2ACDE44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422406" y="509074"/>
                <a:ext cx="6576061" cy="5664164"/>
              </a:xfrm>
            </p:spPr>
            <p:txBody>
              <a:bodyPr>
                <a:normAutofit/>
              </a:bodyPr>
              <a:lstStyle/>
              <a:p>
                <a:pPr marL="285750" indent="-285750" algn="l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Preproc. </a:t>
                </a:r>
              </a:p>
              <a:p>
                <a:pPr marL="742950" lvl="1" indent="-285750" algn="l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6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Rerferencing</a:t>
                </a:r>
                <a:r>
                  <a:rPr lang="en-US" altLang="ko-KR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1200150" lvl="2" indent="-285750" algn="l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EEG</a:t>
                </a:r>
                <a:r>
                  <a:rPr lang="ko-KR" alt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는 전기 신호</a:t>
                </a:r>
                <a:r>
                  <a:rPr lang="en-US" altLang="ko-KR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ko-KR" alt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전위차</a:t>
                </a:r>
                <a:r>
                  <a:rPr lang="en-US" altLang="ko-KR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ko-KR" alt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이다 보니</a:t>
                </a:r>
                <a:r>
                  <a:rPr lang="en-US" altLang="ko-KR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baseline(0-line)</a:t>
                </a:r>
                <a:r>
                  <a:rPr lang="ko-KR" alt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을 필요로 함</a:t>
                </a:r>
                <a:endParaRPr lang="en-US" altLang="ko-KR" sz="14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00150" lvl="2" indent="-285750" algn="l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데이터 측정 당시 </a:t>
                </a:r>
                <a:r>
                  <a:rPr lang="en-US" altLang="ko-KR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reference</a:t>
                </a:r>
                <a:r>
                  <a:rPr lang="ko-KR" alt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를 확인 필요 </a:t>
                </a:r>
                <a:r>
                  <a:rPr lang="en-US" altLang="ko-KR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-&gt; </a:t>
                </a:r>
                <a:r>
                  <a:rPr lang="ko-KR" altLang="en-US" sz="1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필요시 적용</a:t>
                </a:r>
                <a:endParaRPr lang="en-US" altLang="ko-KR" sz="14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657350" lvl="3" indent="-285750" algn="l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Common average reference(CAR) </a:t>
                </a:r>
              </a:p>
              <a:p>
                <a:pPr marL="2114550" lvl="4" indent="-285750" algn="l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전체 신호 평균을 </a:t>
                </a:r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baseline</a:t>
                </a: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으로 지정 </a:t>
                </a:r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– </a:t>
                </a:r>
                <a:r>
                  <a:rPr lang="en-US" altLang="ko-KR" sz="12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avg</a:t>
                </a:r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);)</a:t>
                </a:r>
              </a:p>
              <a:p>
                <a:pPr marL="2114550" lvl="4" indent="-285750" algn="l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일반적으로 사용됨</a:t>
                </a:r>
                <a:endParaRPr lang="en-US" altLang="ko-KR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114550" lvl="4" indent="-285750" algn="l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Bad channel</a:t>
                </a: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에 취약</a:t>
                </a:r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EEG </a:t>
                </a: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일반적인 특징이 제거될 가능성 있음</a:t>
                </a:r>
                <a:endParaRPr lang="en-US" altLang="ko-KR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657350" lvl="3" indent="-285750" algn="l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특정 전극 활용</a:t>
                </a:r>
                <a:endParaRPr lang="en-US" altLang="ko-KR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114550" lvl="4" indent="-285750" algn="l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특정 전극 신호를 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baseline</a:t>
                </a:r>
                <a:r>
                  <a:rPr lang="ko-KR" alt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으로 지정 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…)</a:t>
                </a:r>
              </a:p>
              <a:p>
                <a:pPr marL="2114550" lvl="4" indent="-285750" algn="l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뇌파와 연관이 적은 위치로 뇌파 정보를 오염을 방지 가능</a:t>
                </a:r>
                <a:endParaRPr lang="en-US" altLang="ko-KR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114550" lvl="4" indent="-285750" algn="l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일반적으로 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earlobes(A1</a:t>
                </a:r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altLang="ko-KR" sz="12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A2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) or mastoids(</a:t>
                </a:r>
                <a:r>
                  <a:rPr lang="en-US" altLang="ko-KR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M1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altLang="ko-KR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M2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ko-KR" alt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를 </a:t>
                </a: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활용</a:t>
                </a:r>
                <a:endParaRPr lang="en-US" altLang="ko-KR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114550" lvl="4" indent="-285750" algn="l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또는 특정 </a:t>
                </a:r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EEG channel (ex; </a:t>
                </a:r>
                <a:r>
                  <a:rPr lang="en-US" altLang="ko-KR" sz="12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Cz</a:t>
                </a:r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를 기준으로 특징 추출 목적</a:t>
                </a:r>
                <a:endParaRPr lang="en-US" altLang="ko-KR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114550" lvl="4" indent="-285750" algn="l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특정 </a:t>
                </a:r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channel </a:t>
                </a: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기준으로 </a:t>
                </a:r>
                <a:r>
                  <a:rPr lang="ko-KR" altLang="en-US" sz="12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할때</a:t>
                </a: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주변 </a:t>
                </a:r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channel</a:t>
                </a: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의 </a:t>
                </a:r>
                <a:r>
                  <a:rPr lang="en-US" altLang="ko-KR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amplitude</a:t>
                </a:r>
                <a:r>
                  <a:rPr lang="ko-KR" altLang="en-US" sz="1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가 감소</a:t>
                </a:r>
                <a:endParaRPr lang="en-US" altLang="ko-KR" sz="12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부제목 2">
                <a:extLst>
                  <a:ext uri="{FF2B5EF4-FFF2-40B4-BE49-F238E27FC236}">
                    <a16:creationId xmlns:a16="http://schemas.microsoft.com/office/drawing/2014/main" id="{E62BBE02-99FF-4492-023C-DF90A2ACDE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422406" y="509074"/>
                <a:ext cx="6576061" cy="5664164"/>
              </a:xfrm>
              <a:blipFill>
                <a:blip r:embed="rId5"/>
                <a:stretch>
                  <a:fillRect l="-835" t="-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모서리가 둥근 직사각형 21"/>
          <p:cNvSpPr/>
          <p:nvPr/>
        </p:nvSpPr>
        <p:spPr>
          <a:xfrm>
            <a:off x="103066" y="3206634"/>
            <a:ext cx="2459159" cy="8382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7990" y="3310700"/>
            <a:ext cx="1653367" cy="912659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1204" y="4319354"/>
            <a:ext cx="2940545" cy="191519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4643" y="4319354"/>
            <a:ext cx="2914025" cy="1929187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5044" y="4319354"/>
            <a:ext cx="2940545" cy="191519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742688" y="6247357"/>
            <a:ext cx="25553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pop_eegplot</a:t>
            </a:r>
            <a:endParaRPr lang="en-US" altLang="ko-K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Raw (A1 ref;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장비 기본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ref)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76708" y="6296459"/>
            <a:ext cx="1549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pop_eegplot</a:t>
            </a:r>
            <a:endParaRPr lang="en-US" altLang="ko-K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CAR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49042" y="6247357"/>
            <a:ext cx="1549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pop_eegplot</a:t>
            </a:r>
            <a:endParaRPr lang="en-US" altLang="ko-K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Cz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ref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81562" y="5123060"/>
            <a:ext cx="2128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Cz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channel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이 사라짐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560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0E5E9E-6032-DEB7-44BC-CF9EAE6A1600}"/>
              </a:ext>
            </a:extLst>
          </p:cNvPr>
          <p:cNvSpPr/>
          <p:nvPr/>
        </p:nvSpPr>
        <p:spPr>
          <a:xfrm>
            <a:off x="140003" y="272054"/>
            <a:ext cx="170390" cy="3996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3050C-768C-F7B4-30E1-C445A769D18C}"/>
              </a:ext>
            </a:extLst>
          </p:cNvPr>
          <p:cNvSpPr txBox="1"/>
          <p:nvPr/>
        </p:nvSpPr>
        <p:spPr>
          <a:xfrm>
            <a:off x="310393" y="176059"/>
            <a:ext cx="11585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EEG </a:t>
            </a:r>
            <a:r>
              <a:rPr lang="en-US" altLang="ko-KR" sz="3200" b="1" dirty="0" err="1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Preproc</a:t>
            </a:r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. </a:t>
            </a:r>
            <a:endParaRPr lang="ko-KR" altLang="en-US" sz="3200" b="1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E52FB-74F1-A9F8-7CB5-4BDAB7C8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" y="6431890"/>
            <a:ext cx="1150720" cy="2895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B7AFD3E-B232-9DE1-ADB1-1B258A47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053" y="6431889"/>
            <a:ext cx="1072536" cy="289585"/>
          </a:xfrm>
          <a:prstGeom prst="rect">
            <a:avLst/>
          </a:prstGeom>
        </p:spPr>
      </p:pic>
      <p:sp>
        <p:nvSpPr>
          <p:cNvPr id="2" name="슬라이드 번호 개체 틀 2">
            <a:extLst>
              <a:ext uri="{FF2B5EF4-FFF2-40B4-BE49-F238E27FC236}">
                <a16:creationId xmlns:a16="http://schemas.microsoft.com/office/drawing/2014/main" id="{47721E67-5704-3EAF-DA72-23ACEFCB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389" y="199699"/>
            <a:ext cx="2743200" cy="365125"/>
          </a:xfrm>
        </p:spPr>
        <p:txBody>
          <a:bodyPr/>
          <a:lstStyle/>
          <a:p>
            <a:fld id="{9525FBF5-DC9D-46F5-B1BC-8D1C898DEEB3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49" b="-575"/>
          <a:stretch/>
        </p:blipFill>
        <p:spPr>
          <a:xfrm>
            <a:off x="140003" y="856829"/>
            <a:ext cx="5282403" cy="5377716"/>
          </a:xfrm>
          <a:prstGeom prst="rect">
            <a:avLst/>
          </a:prstGeom>
        </p:spPr>
      </p:pic>
      <p:sp>
        <p:nvSpPr>
          <p:cNvPr id="11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7137" y="176059"/>
            <a:ext cx="6576061" cy="5664164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Preproc. </a:t>
            </a:r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Epoching</a:t>
            </a: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실험 과정에서 발생하는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event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시점을 기준으로 데이터를 분할</a:t>
            </a:r>
            <a:endParaRPr lang="en-US" altLang="ko-K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데이터와 같이 수집된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event marker(trigger)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를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onset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으로 </a:t>
            </a:r>
            <a:r>
              <a:rPr lang="ko-KR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지정후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[-M to N (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의 데이터를 분할</a:t>
            </a:r>
            <a:endParaRPr lang="en-US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Onset 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이전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(-M to 0)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데이터는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으로 사용</a:t>
            </a:r>
            <a:endParaRPr lang="en-US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Onset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이후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(0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N)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데이터는 특정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event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기반 특징 </a:t>
            </a:r>
            <a:r>
              <a:rPr lang="ko-KR" alt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추출용으로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사용</a:t>
            </a:r>
            <a:endParaRPr lang="en-US" altLang="ko-KR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또는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continuous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한 데이터를 특정 구간으로 나누어 일반화 목적 </a:t>
            </a:r>
            <a:endParaRPr lang="en-US" altLang="ko-K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일반적으로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resting state, sleep staging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등에서 활용</a:t>
            </a:r>
            <a:endParaRPr lang="en-US" altLang="ko-KR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Non-overlap: (0 to 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2N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2N+1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4N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),…. </a:t>
            </a: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Overlap: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(0 to 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2N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), (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N+1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3N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),….</a:t>
            </a: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특정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epoch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에서 신호에 문제가 </a:t>
            </a:r>
            <a:r>
              <a:rPr lang="ko-KR" alt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있을시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제거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(epoch rejection)</a:t>
            </a:r>
          </a:p>
        </p:txBody>
      </p:sp>
      <p:sp>
        <p:nvSpPr>
          <p:cNvPr id="22" name="모서리가 둥근 직사각형 21"/>
          <p:cNvSpPr/>
          <p:nvPr/>
        </p:nvSpPr>
        <p:spPr>
          <a:xfrm>
            <a:off x="2781204" y="3545687"/>
            <a:ext cx="2459159" cy="8382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8622" y="4680363"/>
            <a:ext cx="4287651" cy="1965274"/>
          </a:xfrm>
          <a:prstGeom prst="rect">
            <a:avLst/>
          </a:prstGeom>
        </p:spPr>
      </p:pic>
      <p:sp>
        <p:nvSpPr>
          <p:cNvPr id="20" name="타원 19"/>
          <p:cNvSpPr/>
          <p:nvPr/>
        </p:nvSpPr>
        <p:spPr>
          <a:xfrm>
            <a:off x="4248057" y="4604526"/>
            <a:ext cx="391931" cy="44889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2671013" y="5004773"/>
            <a:ext cx="3752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데이터와 같이 수집된 </a:t>
            </a:r>
            <a:r>
              <a:rPr lang="en-US" altLang="ko-KR" sz="1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(trigger)</a:t>
            </a:r>
            <a:endParaRPr lang="ko-KR" alt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7968" y="3364384"/>
            <a:ext cx="2124195" cy="1267981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8649" y="4604526"/>
            <a:ext cx="4376940" cy="190068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62336" y="6584490"/>
            <a:ext cx="28306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pop_eegplot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– continuous EEG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07241" y="6524944"/>
            <a:ext cx="2555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pop_eegplot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epoching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왼쪽 중괄호 14"/>
          <p:cNvSpPr/>
          <p:nvPr/>
        </p:nvSpPr>
        <p:spPr>
          <a:xfrm rot="5400000">
            <a:off x="8674247" y="4075419"/>
            <a:ext cx="143484" cy="812801"/>
          </a:xfrm>
          <a:prstGeom prst="leftBrace">
            <a:avLst>
              <a:gd name="adj1" fmla="val 88005"/>
              <a:gd name="adj2" fmla="val 48828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7518649" y="4006465"/>
            <a:ext cx="25138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Epoch 1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개에 해당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(0-3000 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140003" y="3864364"/>
            <a:ext cx="2459159" cy="8382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4444022" y="5356884"/>
            <a:ext cx="833946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>
            <a:off x="8358625" y="5356884"/>
            <a:ext cx="833946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오른쪽으로 구부러진 화살표 32"/>
          <p:cNvSpPr/>
          <p:nvPr/>
        </p:nvSpPr>
        <p:spPr>
          <a:xfrm rot="16200000">
            <a:off x="6501423" y="3769768"/>
            <a:ext cx="721115" cy="4208439"/>
          </a:xfrm>
          <a:prstGeom prst="curved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20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0E5E9E-6032-DEB7-44BC-CF9EAE6A1600}"/>
              </a:ext>
            </a:extLst>
          </p:cNvPr>
          <p:cNvSpPr/>
          <p:nvPr/>
        </p:nvSpPr>
        <p:spPr>
          <a:xfrm>
            <a:off x="140003" y="272054"/>
            <a:ext cx="170390" cy="3996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3050C-768C-F7B4-30E1-C445A769D18C}"/>
              </a:ext>
            </a:extLst>
          </p:cNvPr>
          <p:cNvSpPr txBox="1"/>
          <p:nvPr/>
        </p:nvSpPr>
        <p:spPr>
          <a:xfrm>
            <a:off x="310393" y="176059"/>
            <a:ext cx="11585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EEG </a:t>
            </a:r>
            <a:r>
              <a:rPr lang="en-US" altLang="ko-KR" sz="3200" b="1" dirty="0" err="1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Preproc</a:t>
            </a:r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. </a:t>
            </a:r>
            <a:endParaRPr lang="ko-KR" altLang="en-US" sz="3200" b="1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E52FB-74F1-A9F8-7CB5-4BDAB7C8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" y="6431890"/>
            <a:ext cx="1150720" cy="2895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B7AFD3E-B232-9DE1-ADB1-1B258A47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053" y="6431889"/>
            <a:ext cx="1072536" cy="289585"/>
          </a:xfrm>
          <a:prstGeom prst="rect">
            <a:avLst/>
          </a:prstGeom>
        </p:spPr>
      </p:pic>
      <p:sp>
        <p:nvSpPr>
          <p:cNvPr id="2" name="슬라이드 번호 개체 틀 2">
            <a:extLst>
              <a:ext uri="{FF2B5EF4-FFF2-40B4-BE49-F238E27FC236}">
                <a16:creationId xmlns:a16="http://schemas.microsoft.com/office/drawing/2014/main" id="{47721E67-5704-3EAF-DA72-23ACEFCB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389" y="199699"/>
            <a:ext cx="2743200" cy="365125"/>
          </a:xfrm>
        </p:spPr>
        <p:txBody>
          <a:bodyPr/>
          <a:lstStyle/>
          <a:p>
            <a:fld id="{9525FBF5-DC9D-46F5-B1BC-8D1C898DEEB3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49" b="-575"/>
          <a:stretch/>
        </p:blipFill>
        <p:spPr>
          <a:xfrm>
            <a:off x="140003" y="856829"/>
            <a:ext cx="5282403" cy="5377716"/>
          </a:xfrm>
          <a:prstGeom prst="rect">
            <a:avLst/>
          </a:prstGeom>
        </p:spPr>
      </p:pic>
      <p:sp>
        <p:nvSpPr>
          <p:cNvPr id="11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406" y="345135"/>
            <a:ext cx="6576061" cy="5664164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Preproc. </a:t>
            </a:r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Blind source </a:t>
            </a:r>
            <a:r>
              <a:rPr lang="en-US" altLang="ko-KR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saparation</a:t>
            </a: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(BSS)</a:t>
            </a: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로부터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artifact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component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분할 및 제거 목적으로 사용</a:t>
            </a:r>
            <a:endParaRPr lang="en-US" altLang="ko-K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신호가 </a:t>
            </a:r>
            <a:r>
              <a:rPr lang="ko-KR" altLang="en-US" sz="1400" dirty="0" smtClean="0"/>
              <a:t>잠재 </a:t>
            </a:r>
            <a:r>
              <a:rPr lang="ko-KR" altLang="en-US" sz="1400" dirty="0"/>
              <a:t>원천</a:t>
            </a:r>
            <a:r>
              <a:rPr lang="en-US" altLang="ko-KR" sz="1400" dirty="0"/>
              <a:t>(source)”</a:t>
            </a:r>
            <a:r>
              <a:rPr lang="ko-KR" altLang="en-US" sz="1400" dirty="0"/>
              <a:t>의 선형</a:t>
            </a:r>
            <a:r>
              <a:rPr lang="en-US" altLang="ko-KR" sz="1400" dirty="0"/>
              <a:t>/</a:t>
            </a:r>
            <a:r>
              <a:rPr lang="ko-KR" altLang="en-US" sz="1400" dirty="0"/>
              <a:t>비선형 혼합으로 </a:t>
            </a:r>
            <a:r>
              <a:rPr lang="ko-KR" altLang="en-US" sz="1400" dirty="0" smtClean="0"/>
              <a:t>생성을 가정</a:t>
            </a:r>
            <a:endParaRPr lang="en-US" altLang="ko-KR" sz="1400" dirty="0" smtClean="0"/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원천 </a:t>
            </a:r>
            <a:r>
              <a:rPr lang="ko-KR" altLang="en-US" sz="1400" dirty="0" smtClean="0"/>
              <a:t>신호</a:t>
            </a:r>
            <a:r>
              <a:rPr lang="en-US" altLang="ko-KR" sz="1400" dirty="0" smtClean="0"/>
              <a:t>(brain signal)</a:t>
            </a:r>
            <a:r>
              <a:rPr lang="ko-KR" altLang="en-US" sz="1400" dirty="0" smtClean="0"/>
              <a:t>와 </a:t>
            </a:r>
            <a:r>
              <a:rPr lang="ko-KR" altLang="en-US" sz="1400" dirty="0"/>
              <a:t>혼합 </a:t>
            </a:r>
            <a:r>
              <a:rPr lang="ko-KR" altLang="en-US" sz="1400" dirty="0" smtClean="0"/>
              <a:t>신호</a:t>
            </a:r>
            <a:r>
              <a:rPr lang="en-US" altLang="ko-KR" sz="1400" dirty="0" smtClean="0"/>
              <a:t>(artifact)</a:t>
            </a:r>
            <a:r>
              <a:rPr lang="ko-KR" altLang="en-US" sz="1400" dirty="0" smtClean="0"/>
              <a:t>를 </a:t>
            </a:r>
            <a:r>
              <a:rPr lang="ko-KR" altLang="en-US" sz="1400" dirty="0"/>
              <a:t>사전 정보 없이</a:t>
            </a:r>
            <a:r>
              <a:rPr lang="en-US" altLang="ko-KR" sz="1400" dirty="0"/>
              <a:t>(blind) </a:t>
            </a:r>
            <a:r>
              <a:rPr lang="ko-KR" altLang="en-US" sz="1400" dirty="0"/>
              <a:t>추정하여 </a:t>
            </a:r>
            <a:r>
              <a:rPr lang="ko-KR" altLang="en-US" sz="1400" dirty="0" smtClean="0"/>
              <a:t>분리</a:t>
            </a:r>
            <a:endParaRPr lang="en-US" altLang="ko-KR" sz="1400" dirty="0" smtClean="0"/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Ex) </a:t>
            </a:r>
            <a:r>
              <a:rPr lang="ko-KR" altLang="en-US" sz="1400" dirty="0" smtClean="0"/>
              <a:t>뇌 </a:t>
            </a:r>
            <a:r>
              <a:rPr lang="ko-KR" altLang="en-US" sz="1400" dirty="0"/>
              <a:t>기원 신호 </a:t>
            </a:r>
            <a:r>
              <a:rPr lang="en-US" altLang="ko-KR" sz="1400" dirty="0"/>
              <a:t>+ </a:t>
            </a:r>
            <a:r>
              <a:rPr lang="ko-KR" altLang="en-US" sz="1400" dirty="0"/>
              <a:t>눈</a:t>
            </a:r>
            <a:r>
              <a:rPr lang="en-US" altLang="ko-KR" sz="1400" dirty="0"/>
              <a:t>/</a:t>
            </a:r>
            <a:r>
              <a:rPr lang="ko-KR" altLang="en-US" sz="1400" dirty="0"/>
              <a:t>근육</a:t>
            </a:r>
            <a:r>
              <a:rPr lang="en-US" altLang="ko-KR" sz="1400" dirty="0"/>
              <a:t>/</a:t>
            </a:r>
            <a:r>
              <a:rPr lang="ko-KR" altLang="en-US" sz="1400" dirty="0" smtClean="0"/>
              <a:t>심장</a:t>
            </a:r>
            <a:r>
              <a:rPr lang="en-US" altLang="ko-KR" sz="1400" dirty="0"/>
              <a:t>/</a:t>
            </a:r>
            <a:r>
              <a:rPr lang="ko-KR" altLang="en-US" sz="1400" dirty="0"/>
              <a:t>움직임 </a:t>
            </a:r>
            <a:r>
              <a:rPr lang="en-US" altLang="ko-KR" sz="1400" dirty="0"/>
              <a:t>+ </a:t>
            </a:r>
            <a:r>
              <a:rPr lang="ko-KR" altLang="en-US" sz="1400" dirty="0"/>
              <a:t>환경 </a:t>
            </a:r>
            <a:r>
              <a:rPr lang="ko-KR" altLang="en-US" sz="1400" dirty="0" smtClean="0"/>
              <a:t>잡음</a:t>
            </a:r>
            <a:endParaRPr lang="en-US" altLang="ko-KR" sz="1400" dirty="0" smtClean="0"/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일반적으로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ICA, PCA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등을 활용</a:t>
            </a:r>
            <a:endParaRPr lang="en-US" altLang="ko-K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Compoents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들로 분할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-&gt; artifact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로 추정되는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comp.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제거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-&gt;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재결합</a:t>
            </a:r>
            <a:endParaRPr lang="en-US" altLang="ko-K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2870104" y="4269587"/>
            <a:ext cx="2459159" cy="8382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59" y="5107787"/>
            <a:ext cx="3458155" cy="1513447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59" y="3385700"/>
            <a:ext cx="3425041" cy="1487321"/>
          </a:xfrm>
          <a:prstGeom prst="rect">
            <a:avLst/>
          </a:prstGeom>
        </p:spPr>
      </p:pic>
      <p:sp>
        <p:nvSpPr>
          <p:cNvPr id="7" name="오른쪽으로 구부러진 화살표 6"/>
          <p:cNvSpPr/>
          <p:nvPr/>
        </p:nvSpPr>
        <p:spPr>
          <a:xfrm>
            <a:off x="5721991" y="4370177"/>
            <a:ext cx="381000" cy="1005687"/>
          </a:xfrm>
          <a:prstGeom prst="curved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28515" y="4444218"/>
            <a:ext cx="2411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Channel EEG </a:t>
            </a:r>
            <a:r>
              <a:rPr lang="ko-KR" altLang="en-US" sz="1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신호</a:t>
            </a:r>
            <a:endParaRPr lang="ko-KR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36962" y="6576681"/>
            <a:ext cx="3561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pop_eegplot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– ICA components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36962" y="3090229"/>
            <a:ext cx="2555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pop_eegplot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– EEG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6263659" y="4688687"/>
            <a:ext cx="3327367" cy="1478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6255919" y="5128521"/>
            <a:ext cx="3327367" cy="147829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9357163" y="4960111"/>
            <a:ext cx="2411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EEG </a:t>
            </a:r>
            <a:r>
              <a:rPr lang="ko-KR" altLang="en-US" sz="1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신호가 아닌 분할된</a:t>
            </a:r>
            <a:endParaRPr lang="en-US" altLang="ko-KR" sz="1400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sz="1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component</a:t>
            </a:r>
            <a:r>
              <a:rPr lang="ko-KR" altLang="en-US" sz="1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에 해당</a:t>
            </a:r>
            <a:endParaRPr lang="ko-KR" altLang="en-US" sz="1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 rot="16200000">
            <a:off x="5229145" y="4719131"/>
            <a:ext cx="707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ICA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6262496" y="5415085"/>
            <a:ext cx="3327367" cy="147829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4508865" y="5631364"/>
            <a:ext cx="392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특정 </a:t>
            </a:r>
            <a:r>
              <a:rPr lang="en-US" altLang="ko-KR" sz="14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ko-KR" altLang="en-US" sz="14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가 </a:t>
            </a:r>
            <a:r>
              <a:rPr lang="en-US" altLang="ko-KR" sz="1400" dirty="0" err="1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arfitact</a:t>
            </a:r>
            <a:r>
              <a:rPr lang="ko-KR" altLang="en-US" sz="1400" dirty="0" err="1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로판단될</a:t>
            </a:r>
            <a:r>
              <a:rPr lang="ko-KR" altLang="en-US" sz="14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경우</a:t>
            </a:r>
            <a:endParaRPr lang="en-US" altLang="ko-KR" sz="1400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ko-KR" altLang="en-US" sz="14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 </a:t>
            </a:r>
            <a:r>
              <a:rPr lang="en-US" altLang="ko-KR" sz="14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</a:t>
            </a:r>
            <a:r>
              <a:rPr lang="ko-KR" altLang="en-US" sz="14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를 제외하고 </a:t>
            </a:r>
            <a:r>
              <a:rPr lang="en-US" altLang="ko-KR" sz="14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ko-KR" altLang="en-US" sz="14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 재결합</a:t>
            </a:r>
            <a:endParaRPr lang="ko-KR" altLang="en-US" sz="1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54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0E5E9E-6032-DEB7-44BC-CF9EAE6A1600}"/>
              </a:ext>
            </a:extLst>
          </p:cNvPr>
          <p:cNvSpPr/>
          <p:nvPr/>
        </p:nvSpPr>
        <p:spPr>
          <a:xfrm>
            <a:off x="140003" y="272054"/>
            <a:ext cx="170390" cy="3996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3050C-768C-F7B4-30E1-C445A769D18C}"/>
              </a:ext>
            </a:extLst>
          </p:cNvPr>
          <p:cNvSpPr txBox="1"/>
          <p:nvPr/>
        </p:nvSpPr>
        <p:spPr>
          <a:xfrm>
            <a:off x="310393" y="176059"/>
            <a:ext cx="11585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EEG </a:t>
            </a:r>
            <a:r>
              <a:rPr lang="en-US" altLang="ko-KR" sz="3200" b="1" dirty="0" err="1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Preproc</a:t>
            </a:r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. </a:t>
            </a:r>
            <a:endParaRPr lang="ko-KR" altLang="en-US" sz="3200" b="1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E52FB-74F1-A9F8-7CB5-4BDAB7C8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" y="6431890"/>
            <a:ext cx="1150720" cy="2895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B7AFD3E-B232-9DE1-ADB1-1B258A47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053" y="6431889"/>
            <a:ext cx="1072536" cy="289585"/>
          </a:xfrm>
          <a:prstGeom prst="rect">
            <a:avLst/>
          </a:prstGeom>
        </p:spPr>
      </p:pic>
      <p:sp>
        <p:nvSpPr>
          <p:cNvPr id="2" name="슬라이드 번호 개체 틀 2">
            <a:extLst>
              <a:ext uri="{FF2B5EF4-FFF2-40B4-BE49-F238E27FC236}">
                <a16:creationId xmlns:a16="http://schemas.microsoft.com/office/drawing/2014/main" id="{47721E67-5704-3EAF-DA72-23ACEFCB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389" y="199699"/>
            <a:ext cx="2743200" cy="365125"/>
          </a:xfrm>
        </p:spPr>
        <p:txBody>
          <a:bodyPr/>
          <a:lstStyle/>
          <a:p>
            <a:fld id="{9525FBF5-DC9D-46F5-B1BC-8D1C898DEEB3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49" b="-575"/>
          <a:stretch/>
        </p:blipFill>
        <p:spPr>
          <a:xfrm>
            <a:off x="140003" y="856829"/>
            <a:ext cx="5282403" cy="5377716"/>
          </a:xfrm>
          <a:prstGeom prst="rect">
            <a:avLst/>
          </a:prstGeom>
        </p:spPr>
      </p:pic>
      <p:sp>
        <p:nvSpPr>
          <p:cNvPr id="11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406" y="856829"/>
            <a:ext cx="6576061" cy="5664164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Preproc. </a:t>
            </a:r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Example of blind source </a:t>
            </a:r>
            <a:r>
              <a:rPr lang="en-US" altLang="ko-KR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saparation</a:t>
            </a:r>
            <a:endParaRPr lang="en-US" altLang="ko-KR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89055" y="4636475"/>
            <a:ext cx="2459159" cy="8382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5549" y="2491805"/>
            <a:ext cx="5819775" cy="2247900"/>
          </a:xfrm>
          <a:prstGeom prst="rect">
            <a:avLst/>
          </a:prstGeom>
        </p:spPr>
      </p:pic>
      <p:sp>
        <p:nvSpPr>
          <p:cNvPr id="12" name="타원 11"/>
          <p:cNvSpPr/>
          <p:nvPr/>
        </p:nvSpPr>
        <p:spPr>
          <a:xfrm>
            <a:off x="7010400" y="2842415"/>
            <a:ext cx="3152775" cy="62865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7192009" y="1941384"/>
                <a:ext cx="39207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b="1" dirty="0" smtClean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만약 특정 </a:t>
                </a:r>
                <a:r>
                  <a:rPr lang="en-US" altLang="ko-KR" sz="1400" b="1" dirty="0" smtClean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comp.(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ko-KR" sz="1400" b="1" dirty="0" smtClean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ko-KR" altLang="en-US" sz="1400" b="1" dirty="0" smtClean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가 </a:t>
                </a:r>
                <a:r>
                  <a:rPr lang="en-US" altLang="ko-KR" sz="1400" b="1" dirty="0" smtClean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artifact</a:t>
                </a:r>
                <a:r>
                  <a:rPr lang="ko-KR" altLang="en-US" sz="1400" b="1" dirty="0" smtClean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면 </a:t>
                </a:r>
                <a:endParaRPr lang="en-US" altLang="ko-KR" sz="1400" b="1" dirty="0" smtClean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ko-KR" altLang="en-US" sz="1400" b="1" dirty="0" err="1" smtClean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재결합시</a:t>
                </a:r>
                <a:r>
                  <a:rPr lang="ko-KR" altLang="en-US" sz="1400" b="1" dirty="0" smtClean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400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altLang="ko-KR" sz="1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ko-KR" sz="1400" b="1" dirty="0" smtClean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ko-KR" altLang="en-US" sz="1400" b="1" dirty="0" smtClean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를 제외 </a:t>
                </a:r>
                <a:endParaRPr lang="ko-KR" altLang="en-US" sz="14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009" y="1941384"/>
                <a:ext cx="3920760" cy="523220"/>
              </a:xfrm>
              <a:prstGeom prst="rect">
                <a:avLst/>
              </a:prstGeom>
              <a:blipFill>
                <a:blip r:embed="rId6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0486603" y="4933041"/>
            <a:ext cx="10517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1. EEG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451604" y="4927727"/>
            <a:ext cx="1149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accent5"/>
                </a:solidFill>
              </a:rPr>
              <a:t>2. ICs</a:t>
            </a:r>
            <a:endParaRPr lang="ko-KR" altLang="en-US" sz="1200" b="1" dirty="0">
              <a:solidFill>
                <a:schemeClr val="accent5"/>
              </a:solidFill>
            </a:endParaRPr>
          </a:p>
        </p:txBody>
      </p:sp>
      <p:cxnSp>
        <p:nvCxnSpPr>
          <p:cNvPr id="16" name="직선 화살표 연결선 15"/>
          <p:cNvCxnSpPr/>
          <p:nvPr/>
        </p:nvCxnSpPr>
        <p:spPr>
          <a:xfrm flipH="1">
            <a:off x="5822768" y="5276485"/>
            <a:ext cx="52900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819740" y="5335109"/>
            <a:ext cx="1211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처리 순서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7948047" y="4925345"/>
            <a:ext cx="15904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7030A0"/>
                </a:solidFill>
              </a:rPr>
              <a:t>3</a:t>
            </a:r>
            <a:r>
              <a:rPr lang="en-US" altLang="ko-KR" sz="1200" b="1" dirty="0" smtClean="0">
                <a:solidFill>
                  <a:srgbClr val="7030A0"/>
                </a:solidFill>
              </a:rPr>
              <a:t>. </a:t>
            </a:r>
            <a:r>
              <a:rPr lang="ko-KR" altLang="en-US" sz="1200" b="1" dirty="0" smtClean="0">
                <a:solidFill>
                  <a:srgbClr val="7030A0"/>
                </a:solidFill>
              </a:rPr>
              <a:t>결합 과정</a:t>
            </a:r>
            <a:endParaRPr lang="ko-KR" altLang="en-US" sz="1200" b="1" dirty="0">
              <a:solidFill>
                <a:srgbClr val="7030A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904741" y="4917077"/>
            <a:ext cx="1149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accent5"/>
                </a:solidFill>
              </a:rPr>
              <a:t>4. ICs(new)</a:t>
            </a:r>
            <a:endParaRPr lang="ko-KR" altLang="en-US" sz="1200" b="1" dirty="0">
              <a:solidFill>
                <a:schemeClr val="accent5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49197" y="4917076"/>
            <a:ext cx="1149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00B050"/>
                </a:solidFill>
              </a:rPr>
              <a:t>5. EEG(new)</a:t>
            </a:r>
            <a:endParaRPr lang="ko-KR" altLang="en-US" sz="1200" b="1" dirty="0">
              <a:solidFill>
                <a:srgbClr val="00B050"/>
              </a:solidFill>
            </a:endParaRPr>
          </a:p>
        </p:txBody>
      </p:sp>
      <p:sp>
        <p:nvSpPr>
          <p:cNvPr id="40" name="타원 39"/>
          <p:cNvSpPr/>
          <p:nvPr/>
        </p:nvSpPr>
        <p:spPr>
          <a:xfrm rot="1800000">
            <a:off x="6813026" y="3515345"/>
            <a:ext cx="3324260" cy="628650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6324123" y="4569955"/>
            <a:ext cx="3920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정상 </a:t>
            </a:r>
            <a:r>
              <a:rPr lang="en-US" altLang="ko-KR" sz="14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comp.</a:t>
            </a:r>
            <a:r>
              <a:rPr lang="ko-KR" altLang="en-US" sz="14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는 그대로 반영 </a:t>
            </a:r>
            <a:endParaRPr lang="ko-KR" altLang="en-US" sz="1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34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0E5E9E-6032-DEB7-44BC-CF9EAE6A1600}"/>
              </a:ext>
            </a:extLst>
          </p:cNvPr>
          <p:cNvSpPr/>
          <p:nvPr/>
        </p:nvSpPr>
        <p:spPr>
          <a:xfrm>
            <a:off x="140003" y="272054"/>
            <a:ext cx="170390" cy="3996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3050C-768C-F7B4-30E1-C445A769D18C}"/>
              </a:ext>
            </a:extLst>
          </p:cNvPr>
          <p:cNvSpPr txBox="1"/>
          <p:nvPr/>
        </p:nvSpPr>
        <p:spPr>
          <a:xfrm>
            <a:off x="310393" y="176059"/>
            <a:ext cx="11585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EEG </a:t>
            </a:r>
            <a:r>
              <a:rPr lang="en-US" altLang="ko-KR" sz="3200" b="1" dirty="0" err="1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Preproc</a:t>
            </a:r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. </a:t>
            </a:r>
            <a:endParaRPr lang="ko-KR" altLang="en-US" sz="3200" b="1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E52FB-74F1-A9F8-7CB5-4BDAB7C8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" y="6431890"/>
            <a:ext cx="1150720" cy="2895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B7AFD3E-B232-9DE1-ADB1-1B258A47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053" y="6431889"/>
            <a:ext cx="1072536" cy="289585"/>
          </a:xfrm>
          <a:prstGeom prst="rect">
            <a:avLst/>
          </a:prstGeom>
        </p:spPr>
      </p:pic>
      <p:sp>
        <p:nvSpPr>
          <p:cNvPr id="2" name="슬라이드 번호 개체 틀 2">
            <a:extLst>
              <a:ext uri="{FF2B5EF4-FFF2-40B4-BE49-F238E27FC236}">
                <a16:creationId xmlns:a16="http://schemas.microsoft.com/office/drawing/2014/main" id="{47721E67-5704-3EAF-DA72-23ACEFCB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389" y="199699"/>
            <a:ext cx="2743200" cy="365125"/>
          </a:xfrm>
        </p:spPr>
        <p:txBody>
          <a:bodyPr/>
          <a:lstStyle/>
          <a:p>
            <a:fld id="{9525FBF5-DC9D-46F5-B1BC-8D1C898DEEB3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49" b="-575"/>
          <a:stretch/>
        </p:blipFill>
        <p:spPr>
          <a:xfrm>
            <a:off x="140003" y="856829"/>
            <a:ext cx="5282403" cy="5377716"/>
          </a:xfrm>
          <a:prstGeom prst="rect">
            <a:avLst/>
          </a:prstGeom>
        </p:spPr>
      </p:pic>
      <p:sp>
        <p:nvSpPr>
          <p:cNvPr id="11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5650" y="467306"/>
            <a:ext cx="6576061" cy="5664164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Preproc. </a:t>
            </a:r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Example of blind source </a:t>
            </a:r>
            <a:r>
              <a:rPr lang="en-US" altLang="ko-KR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saparation</a:t>
            </a:r>
            <a:endParaRPr lang="en-US" altLang="ko-KR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Artifact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특징 참고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: https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://labeling.ucsd.edu/tutorial/practice</a:t>
            </a:r>
            <a:endParaRPr lang="en-US" altLang="ko-K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89055" y="4636475"/>
            <a:ext cx="2459159" cy="8382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7236" y="1495772"/>
            <a:ext cx="5486400" cy="19716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64232" y="2015096"/>
            <a:ext cx="2411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Informax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기반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ica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1983" y="3833863"/>
            <a:ext cx="2791150" cy="2887611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0436" y="4057451"/>
            <a:ext cx="2192535" cy="207401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61824" y="3564312"/>
            <a:ext cx="1343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ICs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78830" y="3553634"/>
            <a:ext cx="2398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번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IC;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개별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compoents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별 특징 기반으로 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artifact 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판별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26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0E5E9E-6032-DEB7-44BC-CF9EAE6A1600}"/>
              </a:ext>
            </a:extLst>
          </p:cNvPr>
          <p:cNvSpPr/>
          <p:nvPr/>
        </p:nvSpPr>
        <p:spPr>
          <a:xfrm>
            <a:off x="140003" y="272054"/>
            <a:ext cx="170390" cy="3996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3050C-768C-F7B4-30E1-C445A769D18C}"/>
              </a:ext>
            </a:extLst>
          </p:cNvPr>
          <p:cNvSpPr txBox="1"/>
          <p:nvPr/>
        </p:nvSpPr>
        <p:spPr>
          <a:xfrm>
            <a:off x="310393" y="176059"/>
            <a:ext cx="11585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EEG </a:t>
            </a:r>
            <a:r>
              <a:rPr lang="en-US" altLang="ko-KR" sz="3200" b="1" dirty="0" err="1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Preproc</a:t>
            </a:r>
            <a:r>
              <a:rPr lang="en-US" altLang="ko-KR" sz="3200" b="1" dirty="0" smtClean="0">
                <a:latin typeface="Arial" panose="020B0604020202020204" pitchFamily="34" charset="0"/>
                <a:ea typeface="나눔고딕 ExtraBold" panose="020D0904000000000000" pitchFamily="50" charset="-127"/>
                <a:cs typeface="Arial" panose="020B0604020202020204" pitchFamily="34" charset="0"/>
              </a:rPr>
              <a:t>. </a:t>
            </a:r>
            <a:endParaRPr lang="ko-KR" altLang="en-US" sz="3200" b="1" dirty="0">
              <a:latin typeface="Arial" panose="020B0604020202020204" pitchFamily="34" charset="0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E52FB-74F1-A9F8-7CB5-4BDAB7C8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" y="6431890"/>
            <a:ext cx="1150720" cy="2895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B7AFD3E-B232-9DE1-ADB1-1B258A47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053" y="6431889"/>
            <a:ext cx="1072536" cy="289585"/>
          </a:xfrm>
          <a:prstGeom prst="rect">
            <a:avLst/>
          </a:prstGeom>
        </p:spPr>
      </p:pic>
      <p:sp>
        <p:nvSpPr>
          <p:cNvPr id="2" name="슬라이드 번호 개체 틀 2">
            <a:extLst>
              <a:ext uri="{FF2B5EF4-FFF2-40B4-BE49-F238E27FC236}">
                <a16:creationId xmlns:a16="http://schemas.microsoft.com/office/drawing/2014/main" id="{47721E67-5704-3EAF-DA72-23ACEFCB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389" y="199699"/>
            <a:ext cx="2743200" cy="365125"/>
          </a:xfrm>
        </p:spPr>
        <p:txBody>
          <a:bodyPr/>
          <a:lstStyle/>
          <a:p>
            <a:fld id="{9525FBF5-DC9D-46F5-B1BC-8D1C898DEEB3}" type="slidenum">
              <a:rPr lang="ko-KR" altLang="en-US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49" b="-575"/>
          <a:stretch/>
        </p:blipFill>
        <p:spPr>
          <a:xfrm>
            <a:off x="140003" y="856829"/>
            <a:ext cx="5282403" cy="5377716"/>
          </a:xfrm>
          <a:prstGeom prst="rect">
            <a:avLst/>
          </a:prstGeom>
        </p:spPr>
      </p:pic>
      <p:sp>
        <p:nvSpPr>
          <p:cNvPr id="11" name="부제목 2">
            <a:extLst>
              <a:ext uri="{FF2B5EF4-FFF2-40B4-BE49-F238E27FC236}">
                <a16:creationId xmlns:a16="http://schemas.microsoft.com/office/drawing/2014/main" id="{E62BBE02-99FF-4492-023C-DF90A2ACD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406" y="1057310"/>
            <a:ext cx="6576061" cy="5664164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Preproc. </a:t>
            </a:r>
          </a:p>
          <a:p>
            <a:pPr marL="742950" lvl="1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Export </a:t>
            </a:r>
            <a:r>
              <a:rPr lang="en-US" altLang="ko-KR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preproc</a:t>
            </a:r>
            <a:r>
              <a:rPr lang="en-US" altLang="ko-K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 data</a:t>
            </a:r>
          </a:p>
          <a:p>
            <a:pPr marL="1200150" lvl="2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데이터 </a:t>
            </a:r>
            <a:r>
              <a:rPr lang="ko-KR" alt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저장시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preproc</a:t>
            </a:r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 parameters</a:t>
            </a:r>
            <a:r>
              <a:rPr lang="ko-KR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를 같이 저장</a:t>
            </a:r>
            <a:endParaRPr lang="en-US" altLang="ko-K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연구에서의 </a:t>
            </a:r>
            <a:r>
              <a:rPr lang="ko-KR" altLang="en-US" sz="1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재현성</a:t>
            </a:r>
            <a:r>
              <a:rPr lang="en-US" altLang="ko-K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(reproducibility)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과 관련된 요소</a:t>
            </a:r>
            <a:endParaRPr lang="en-US" altLang="ko-KR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Ex) band pass filter: 1-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45Hz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notch: 59-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61Hz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ica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weight and </a:t>
            </a:r>
            <a:r>
              <a:rPr lang="en-US" altLang="ko-K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spere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등등</a:t>
            </a:r>
            <a:endParaRPr lang="en-US" altLang="ko-KR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특히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ICA, PCA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는 </a:t>
            </a:r>
            <a:r>
              <a:rPr lang="ko-KR" alt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랜덤성을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가지므로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반드시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r>
              <a:rPr lang="ko-KR" alt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를 같이 저장</a:t>
            </a:r>
            <a:endParaRPr lang="en-US" altLang="ko-KR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103066" y="5388520"/>
            <a:ext cx="2459159" cy="8382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23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3082</TotalTime>
  <Words>892</Words>
  <Application>Microsoft Office PowerPoint</Application>
  <PresentationFormat>와이드스크린</PresentationFormat>
  <Paragraphs>176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나눔고딕 ExtraBold</vt:lpstr>
      <vt:lpstr>맑은 고딕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성정훈</dc:creator>
  <cp:lastModifiedBy>Bio_lab_HG</cp:lastModifiedBy>
  <cp:revision>455</cp:revision>
  <dcterms:created xsi:type="dcterms:W3CDTF">2023-06-21T01:54:52Z</dcterms:created>
  <dcterms:modified xsi:type="dcterms:W3CDTF">2026-01-07T07:48:32Z</dcterms:modified>
</cp:coreProperties>
</file>